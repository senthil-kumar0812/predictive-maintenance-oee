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anrope SemiBold"/>
      <p:regular r:id="rId12"/>
      <p:bold r:id="rId13"/>
    </p:embeddedFont>
    <p:embeddedFont>
      <p:font typeface="Manrope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ManropeSemiBold-regular.fntdata"/><Relationship Id="rId13" Type="http://schemas.openxmlformats.org/officeDocument/2006/relationships/font" Target="fonts/ManropeSemiBold-bold.fntdata"/><Relationship Id="rId14" Type="http://schemas.openxmlformats.org/officeDocument/2006/relationships/font" Target="fonts/Manrope-regular.fntdata"/><Relationship Id="rId15" Type="http://schemas.openxmlformats.org/officeDocument/2006/relationships/font" Target="fonts/Manrope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2808" y="3192600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Vestas-DS-Data Engineers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02788" y="42501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 Predictive Maintenance and OEE Command Center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02798" y="353465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Ramasamy Murugesan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02788" y="39072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Size : 4 Members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329100" y="600420"/>
            <a:ext cx="8485800" cy="42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  <a:defRPr sz="2200" b="1">
                <a:solidFill>
                  <a:srgbClr val="1E3A5F"/>
                </a:solidFill>
              </a:defRPr>
            </a:pPr>
            <a:r>
              <a:t>1. Problem Brief</a:t>
            </a:r>
            <a:endParaRPr b="1" i="1" sz="1442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2C3E50"/>
                </a:solidFill>
              </a:rPr>
              <a:t>Business Problem:</a:t>
            </a:r>
          </a:p>
          <a:p>
            <a:r>
              <a:rPr sz="1000">
                <a:solidFill>
                  <a:srgbClr val="34495E"/>
                </a:solidFill>
              </a:rPr>
              <a:t>Wind farm operators lack a unified view of asset health, anomaly detection, and production efficiency. Maintenance decisions are reactive, leading to unplanned downtime, safety risks, and inflated costs.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2C3E50"/>
                </a:solidFill>
              </a:rPr>
              <a:t>Target User:</a:t>
            </a:r>
          </a:p>
          <a:p>
            <a:r>
              <a:rPr sz="1000">
                <a:solidFill>
                  <a:srgbClr val="34495E"/>
                </a:solidFill>
              </a:rPr>
              <a:t>Wind farm operations managers, maintenance engineers, and reliability teams needing real-time fleet monitoring with automated anomaly triage and action capabilities.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2C3E50"/>
                </a:solidFill>
              </a:rPr>
              <a:t>Current Pain Point:</a:t>
            </a:r>
          </a:p>
          <a:p>
            <a:r>
              <a:rPr sz="1000">
                <a:solidFill>
                  <a:srgbClr val="34495E"/>
                </a:solidFill>
              </a:rPr>
              <a:t>Siloed data across SCADA, ERP, and maintenance systems. No automated anomaly detection. Manual alert triage. No confidence-based guardrails. OEE tracked separately from maintenance health.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2C3E50"/>
                </a:solidFill>
              </a:rPr>
              <a:t>Our Solution:</a:t>
            </a:r>
          </a:p>
          <a:p>
            <a:r>
              <a:rPr sz="1000">
                <a:solidFill>
                  <a:srgbClr val="34495E"/>
                </a:solidFill>
              </a:rPr>
              <a:t>A fully Snowflake-native Command Center monitoring 50 turbine assets across 3 wind farms, detecting anomalies using ML (100% detection recall), enabling automated or human-approved actions through a Cortex Agent.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2C3E50"/>
                </a:solidFill>
              </a:rPr>
              <a:t>Industry:</a:t>
            </a:r>
          </a:p>
          <a:p>
            <a:r>
              <a:rPr sz="1000">
                <a:solidFill>
                  <a:srgbClr val="34495E"/>
                </a:solidFill>
              </a:rPr>
              <a:t>Wind energy operations - predictive maintenance for rotating equipment (gearboxes, bearings, generators, pitch/yaw systems) combined with OEE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TextBox 69"/>
          <p:cNvSpPr txBox="1"/>
          <p:nvPr/>
        </p:nvSpPr>
        <p:spPr>
          <a:xfrm>
            <a:off x="457200" y="274320"/>
            <a:ext cx="822960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5F"/>
                </a:solidFill>
              </a:defRPr>
            </a:pPr>
            <a:r>
              <a:t>2. Architecture Diagram</a:t>
            </a:r>
          </a:p>
          <a:p>
            <a:r>
              <a:rPr sz="900">
                <a:solidFill>
                  <a:srgbClr val="2C3E50"/>
                </a:solidFill>
              </a:rPr>
              <a:t/>
            </a:r>
          </a:p>
          <a:p>
            <a:r>
              <a:rPr sz="1100" b="1">
                <a:solidFill>
                  <a:srgbClr val="C0392B"/>
                </a:solidFill>
              </a:rPr>
              <a:t>DATA PIPELINE (Medallion Architecture):</a:t>
            </a:r>
          </a:p>
          <a:p>
            <a:r>
              <a:rPr sz="900">
                <a:solidFill>
                  <a:srgbClr val="2C3E50"/>
                </a:solidFill>
              </a:rPr>
              <a:t>RAW (8 tables) -&gt; BRONZE (4 DTs) -&gt; SILVER (3 DTs) -&gt; GOLD (1 DT)</a:t>
            </a:r>
          </a:p>
          <a:p>
            <a:r>
              <a:rPr sz="900">
                <a:solidFill>
                  <a:srgbClr val="2C3E50"/>
                </a:solidFill>
              </a:rPr>
              <a:t>All 8 Dynamic Tables, 15-min target lag, mostly incremental refresh</a:t>
            </a:r>
          </a:p>
          <a:p>
            <a:r>
              <a:rPr sz="900">
                <a:solidFill>
                  <a:srgbClr val="2C3E50"/>
                </a:solidFill>
              </a:rPr>
              <a:t/>
            </a:r>
          </a:p>
          <a:p>
            <a:r>
              <a:rPr sz="1100" b="1">
                <a:solidFill>
                  <a:srgbClr val="C0392B"/>
                </a:solidFill>
              </a:rPr>
              <a:t>ML ANOMALY DETECTION:</a:t>
            </a:r>
          </a:p>
          <a:p>
            <a:r>
              <a:rPr sz="900">
                <a:solidFill>
                  <a:srgbClr val="2C3E50"/>
                </a:solidFill>
              </a:rPr>
              <a:t>2x SNOWFLAKE.ML.ANOMALY_DETECTION (vibration + temperature)</a:t>
            </a:r>
          </a:p>
          <a:p>
            <a:r>
              <a:rPr sz="900">
                <a:solidFill>
                  <a:srgbClr val="2C3E50"/>
                </a:solidFill>
              </a:rPr>
              <a:t>Threshold k=13 from Binomial(576, 0.01) mean + 3 sigma</a:t>
            </a:r>
          </a:p>
          <a:p>
            <a:r>
              <a:rPr sz="900">
                <a:solidFill>
                  <a:srgbClr val="2C3E50"/>
                </a:solidFill>
              </a:rPr>
              <a:t>Confidence = sqrt((anomaly_count - 13) / 50), capped at 1.0</a:t>
            </a:r>
          </a:p>
          <a:p>
            <a:r>
              <a:rPr sz="900">
                <a:solidFill>
                  <a:srgbClr val="2C3E50"/>
                </a:solidFill>
              </a:rPr>
              <a:t>Alert tiers: AUTO_ELIGIBLE (&gt;=0.85) | NEEDS_REVIEW (0.50-0.85) | LOGGED_ONLY (&lt;0.50)</a:t>
            </a:r>
          </a:p>
          <a:p>
            <a:r>
              <a:rPr sz="900">
                <a:solidFill>
                  <a:srgbClr val="2C3E50"/>
                </a:solidFill>
              </a:rPr>
              <a:t/>
            </a:r>
          </a:p>
          <a:p>
            <a:r>
              <a:rPr sz="1100" b="1">
                <a:solidFill>
                  <a:srgbClr val="C0392B"/>
                </a:solidFill>
              </a:rPr>
              <a:t>CORTEX AGENT (4 tools):</a:t>
            </a:r>
          </a:p>
          <a:p>
            <a:r>
              <a:rPr sz="900">
                <a:solidFill>
                  <a:srgbClr val="2C3E50"/>
                </a:solidFill>
              </a:rPr>
              <a:t>  FleetAnalytics -&gt; Semantic View (text-to-SQL: OEE, alerts, fleet health)</a:t>
            </a:r>
          </a:p>
          <a:p>
            <a:r>
              <a:rPr sz="900">
                <a:solidFill>
                  <a:srgbClr val="2C3E50"/>
                </a:solidFill>
              </a:rPr>
              <a:t>  MaintenanceSearch -&gt; Cortex Search (semantic retrieval: technician notes)</a:t>
            </a:r>
          </a:p>
          <a:p>
            <a:r>
              <a:rPr sz="900">
                <a:solidFill>
                  <a:srgbClr val="2C3E50"/>
                </a:solidFill>
              </a:rPr>
              <a:t>  CREATE_WORK_ORDER -&gt; Procedure (0.85 confidence guardrail)</a:t>
            </a:r>
          </a:p>
          <a:p>
            <a:r>
              <a:rPr sz="900">
                <a:solidFill>
                  <a:srgbClr val="2C3E50"/>
                </a:solidFill>
              </a:rPr>
              <a:t>  NOTIFY_CRITICAL_ALERT -&gt; Procedure (HTML email via SYSTEM$SEND_EMAIL)</a:t>
            </a:r>
          </a:p>
          <a:p>
            <a:r>
              <a:rPr sz="900">
                <a:solidFill>
                  <a:srgbClr val="2C3E50"/>
                </a:solidFill>
              </a:rPr>
              <a:t/>
            </a:r>
          </a:p>
          <a:p>
            <a:r>
              <a:rPr sz="1100" b="1">
                <a:solidFill>
                  <a:srgbClr val="C0392B"/>
                </a:solidFill>
              </a:rPr>
              <a:t>STREAMLIT COMMAND CENTER (Container Runtime on SPCS):</a:t>
            </a:r>
          </a:p>
          <a:p>
            <a:r>
              <a:rPr sz="900">
                <a:solidFill>
                  <a:srgbClr val="2C3E50"/>
                </a:solidFill>
              </a:rPr>
              <a:t>  Tab 1: Alert Triage (27 alerts, status badges, 72h sensor sparklines)</a:t>
            </a:r>
          </a:p>
          <a:p>
            <a:r>
              <a:rPr sz="900">
                <a:solidFill>
                  <a:srgbClr val="2C3E50"/>
                </a:solidFill>
              </a:rPr>
              <a:t>  Tab 2: Chat/RCA with Judge Mode (Confirm/Deny or auto-execute)</a:t>
            </a:r>
          </a:p>
          <a:p>
            <a:r>
              <a:rPr sz="900">
                <a:solidFill>
                  <a:srgbClr val="2C3E50"/>
                </a:solidFill>
              </a:rPr>
              <a:t>  Tab 3: OEE Dashboard (Availability x Performance x Quality)</a:t>
            </a:r>
          </a:p>
          <a:p>
            <a:r>
              <a:rPr sz="900">
                <a:solidFill>
                  <a:srgbClr val="2C3E50"/>
                </a:solidFill>
              </a:rPr>
              <a:t/>
            </a:r>
          </a:p>
          <a:p>
            <a:r>
              <a:rPr sz="1100" b="1">
                <a:solidFill>
                  <a:srgbClr val="C0392B"/>
                </a:solidFill>
              </a:rPr>
              <a:t>TASK AUTOMATION (5 tasks):</a:t>
            </a:r>
          </a:p>
          <a:p>
            <a:r>
              <a:rPr sz="900">
                <a:solidFill>
                  <a:srgbClr val="2C3E50"/>
                </a:solidFill>
              </a:rPr>
              <a:t>  SCORING_TASK (15 min) -&gt; CRITICAL_ALERT_TASK (after scoring)</a:t>
            </a:r>
          </a:p>
          <a:p>
            <a:r>
              <a:rPr sz="900">
                <a:solidFill>
                  <a:srgbClr val="2C3E50"/>
                </a:solidFill>
              </a:rPr>
              <a:t>  FLEET_SUMMARY_TASK (daily) | RETRAIN_CANDIDACY (6h) | REPLAY (60 min)</a:t>
            </a:r>
          </a:p>
          <a:p>
            <a:r>
              <a:rPr sz="900">
                <a:solidFill>
                  <a:srgbClr val="2C3E50"/>
                </a:solidFill>
              </a:rPr>
              <a:t/>
            </a:r>
          </a:p>
          <a:p>
            <a:r>
              <a:rPr sz="900">
                <a:solidFill>
                  <a:srgbClr val="2C3E50"/>
                </a:solidFill>
              </a:rPr>
              <a:t>CoCo CLI Skills Used: agent-studio, developing-with-streamlit-in-snowflake,</a:t>
            </a:r>
          </a:p>
          <a:p>
            <a:r>
              <a:rPr sz="900">
                <a:solidFill>
                  <a:srgbClr val="2C3E50"/>
                </a:solidFill>
              </a:rPr>
              <a:t>dynamic-tables, machine-learning, snowflake-tasks, sql-author, snowpark-python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TextBox 74"/>
          <p:cNvSpPr txBox="1"/>
          <p:nvPr/>
        </p:nvSpPr>
        <p:spPr>
          <a:xfrm>
            <a:off x="457200" y="274320"/>
            <a:ext cx="822960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5F"/>
                </a:solidFill>
              </a:defRPr>
            </a:pPr>
            <a:r>
              <a:t>3. Impact Statement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C0392B"/>
                </a:solidFill>
              </a:rPr>
              <a:t>Measurable Outcomes:</a:t>
            </a:r>
          </a:p>
          <a:p>
            <a:r>
              <a:rPr sz="900">
                <a:solidFill>
                  <a:srgbClr val="2C3E50"/>
                </a:solidFill>
              </a:rPr>
              <a:t>  - 100% detection recall - all 13 ground-truth anomalous assets detected</a:t>
            </a:r>
          </a:p>
          <a:p>
            <a:r>
              <a:rPr sz="900">
                <a:solidFill>
                  <a:srgbClr val="2C3E50"/>
                </a:solidFill>
              </a:rPr>
              <a:t>  - 84.6% actionable recall - 11 of 13 reach actionable status</a:t>
            </a:r>
          </a:p>
          <a:p>
            <a:r>
              <a:rPr sz="900">
                <a:solidFill>
                  <a:srgbClr val="2C3E50"/>
                </a:solidFill>
              </a:rPr>
              <a:t>  - 73.3% precision - intentionally favoring recall for safety-critical equipment</a:t>
            </a:r>
          </a:p>
          <a:p>
            <a:r>
              <a:rPr sz="900">
                <a:solidFill>
                  <a:srgbClr val="2C3E50"/>
                </a:solidFill>
              </a:rPr>
              <a:t>  - 0.85 confidence guardrail - blocks automated action below threshold</a:t>
            </a:r>
          </a:p>
          <a:p>
            <a:r>
              <a:rPr sz="900">
                <a:solidFill>
                  <a:srgbClr val="2C3E50"/>
                </a:solidFill>
              </a:rPr>
              <a:t>  - 15-minute pipeline latency - raw sensor data to scored alert</a:t>
            </a:r>
          </a:p>
          <a:p>
            <a:r>
              <a:rPr sz="900">
                <a:solidFill>
                  <a:srgbClr val="2C3E50"/>
                </a:solidFill>
              </a:rPr>
              <a:t>  - Professional HTML email notifications with asset history and maintenance context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C0392B"/>
                </a:solidFill>
              </a:rPr>
              <a:t>Scalability Potential:</a:t>
            </a:r>
          </a:p>
          <a:p>
            <a:r>
              <a:rPr sz="900">
                <a:solidFill>
                  <a:srgbClr val="2C3E50"/>
                </a:solidFill>
              </a:rPr>
              <a:t>  - Dynamic Tables scale automatically - adding 500 or 5,000 assets needs no pipeline changes</a:t>
            </a:r>
          </a:p>
          <a:p>
            <a:r>
              <a:rPr sz="900">
                <a:solidFill>
                  <a:srgbClr val="2C3E50"/>
                </a:solidFill>
              </a:rPr>
              <a:t>  - ML models retrain automatically when new data exceeds 5% of baseline</a:t>
            </a:r>
          </a:p>
          <a:p>
            <a:r>
              <a:rPr sz="900">
                <a:solidFill>
                  <a:srgbClr val="2C3E50"/>
                </a:solidFill>
              </a:rPr>
              <a:t>  - Replay buffer pattern generalizes to Snowpipe Streaming for production IoT ingestion</a:t>
            </a:r>
          </a:p>
          <a:p>
            <a:r>
              <a:rPr sz="900">
                <a:solidFill>
                  <a:srgbClr val="2C3E50"/>
                </a:solidFill>
              </a:rPr>
              <a:t>  - Semantic View + Agent pattern reusable for any fleet monitoring domain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C0392B"/>
                </a:solidFill>
              </a:rPr>
              <a:t>Beyond the Demo:</a:t>
            </a:r>
          </a:p>
          <a:p>
            <a:r>
              <a:rPr sz="900">
                <a:solidFill>
                  <a:srgbClr val="2C3E50"/>
                </a:solidFill>
              </a:rPr>
              <a:t>  - Production: swap replay buffer for Snowpipe Streaming from MQTT/Kafka</a:t>
            </a:r>
          </a:p>
          <a:p>
            <a:r>
              <a:rPr sz="900">
                <a:solidFill>
                  <a:srgbClr val="2C3E50"/>
                </a:solidFill>
              </a:rPr>
              <a:t>  - Multi-tenant: RBAC-based Judge Mode for role-based action control</a:t>
            </a:r>
          </a:p>
          <a:p>
            <a:r>
              <a:rPr sz="900">
                <a:solidFill>
                  <a:srgbClr val="2C3E50"/>
                </a:solidFill>
              </a:rPr>
              <a:t>  - Extended ML: RPM anomaly model, vibration spectral analysis, RUL prediction</a:t>
            </a:r>
          </a:p>
          <a:p>
            <a:r>
              <a:rPr sz="900">
                <a:solidFill>
                  <a:srgbClr val="2C3E50"/>
                </a:solidFill>
              </a:rPr>
              <a:t>  - Integration: push work orders to SAP PM / Maximo via external functions</a:t>
            </a:r>
          </a:p>
          <a:p>
            <a:r>
              <a:rPr sz="900">
                <a:solidFill>
                  <a:srgbClr val="2C3E50"/>
                </a:solidFill>
              </a:rPr>
              <a:t>  - Cost optimization: auto-suspend + Dynamic Table lag tuning minimize idle compute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315900" y="4478850"/>
            <a:ext cx="85122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  <a:defRPr sz="2000" b="1">
                <a:solidFill>
                  <a:srgbClr val="1E3A5F"/>
                </a:solidFill>
              </a:defRPr>
            </a:pPr>
            <a:r>
              <a:t>Snowflake Services &amp; Object Inventory</a:t>
            </a:r>
            <a:endParaRPr b="0" i="1" sz="600" u="none" cap="none" strike="noStrike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2C3E50"/>
                </a:solidFill>
              </a:rPr>
              <a:t>Dynamic Tables (8): </a:t>
            </a:r>
            <a:r>
              <a:rPr sz="900">
                <a:solidFill>
                  <a:srgbClr val="555555"/>
                </a:solidFill>
              </a:rPr>
              <a:t>Medallion pipeline: RAW-&gt;BRONZE(4)-&gt;SILVER(3)-&gt;GOLD(1), all 15-min lag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2C3E50"/>
                </a:solidFill>
              </a:rPr>
              <a:t>ML: ANOMALY_DETECTION (2): </a:t>
            </a:r>
            <a:r>
              <a:rPr sz="900">
                <a:solidFill>
                  <a:srgbClr val="555555"/>
                </a:solidFill>
              </a:rPr>
              <a:t>Vibration + Temperature models, 10-day baseline, 99% prediction interval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2C3E50"/>
                </a:solidFill>
              </a:rPr>
              <a:t>Cortex Agent (1): </a:t>
            </a:r>
            <a:r>
              <a:rPr sz="900">
                <a:solidFill>
                  <a:srgbClr val="555555"/>
                </a:solidFill>
              </a:rPr>
              <a:t>4 tools: FleetAnalytics, MaintenanceSearch, CreateWO, NotifyAlert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2C3E50"/>
                </a:solidFill>
              </a:rPr>
              <a:t>Semantic View (1): </a:t>
            </a:r>
            <a:r>
              <a:rPr sz="900">
                <a:solidFill>
                  <a:srgbClr val="555555"/>
                </a:solidFill>
              </a:rPr>
              <a:t>4 tables, 3 relationships, 11 dimensions, 13 metrics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2C3E50"/>
                </a:solidFill>
              </a:rPr>
              <a:t>Cortex Search (1): </a:t>
            </a:r>
            <a:r>
              <a:rPr sz="900">
                <a:solidFill>
                  <a:srgbClr val="555555"/>
                </a:solidFill>
              </a:rPr>
              <a:t>Semantic search over maintenance logs and technician notes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2C3E50"/>
                </a:solidFill>
              </a:rPr>
              <a:t>DATA_AGENT_RUN: </a:t>
            </a:r>
            <a:r>
              <a:rPr sz="900">
                <a:solidFill>
                  <a:srgbClr val="555555"/>
                </a:solidFill>
              </a:rPr>
              <a:t>Agent invocation from Streamlit via SQL function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2C3E50"/>
                </a:solidFill>
              </a:rPr>
              <a:t>SYSTEM$SEND_EMAIL: </a:t>
            </a:r>
            <a:r>
              <a:rPr sz="900">
                <a:solidFill>
                  <a:srgbClr val="555555"/>
                </a:solidFill>
              </a:rPr>
              <a:t>Professional HTML email notifications (text/html MIME type)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2C3E50"/>
                </a:solidFill>
              </a:rPr>
              <a:t>Streamlit in Snowflake: </a:t>
            </a:r>
            <a:r>
              <a:rPr sz="900">
                <a:solidFill>
                  <a:srgbClr val="555555"/>
                </a:solidFill>
              </a:rPr>
              <a:t>Container runtime, 3-tab Command Center with Judge Mode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2C3E50"/>
                </a:solidFill>
              </a:rPr>
              <a:t>Tasks (5): </a:t>
            </a:r>
            <a:r>
              <a:rPr sz="900">
                <a:solidFill>
                  <a:srgbClr val="555555"/>
                </a:solidFill>
              </a:rPr>
              <a:t>Scoring, Critical Alert, Fleet Summary, Retrain Check, Replay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2C3E50"/>
                </a:solidFill>
              </a:rPr>
              <a:t>Stored Procedures (9): </a:t>
            </a:r>
            <a:r>
              <a:rPr sz="900">
                <a:solidFill>
                  <a:srgbClr val="555555"/>
                </a:solidFill>
              </a:rPr>
              <a:t>Scoring, alerting, WO, notify, summary, retrain, replay, data gen</a:t>
            </a:r>
          </a:p>
          <a:p>
            <a:pPr>
              <a:spcBef>
                <a:spcPts val="1000"/>
              </a:spcBef>
            </a:pPr>
            <a:r>
              <a:rPr sz="900" b="1">
                <a:solidFill>
                  <a:srgbClr val="1E3A5F"/>
                </a:solidFill>
              </a:rPr>
              <a:t>Total: 8 RAW tables, 8 DTs, 6 views, 9 procedures, 5 tasks, 2 ML models, 1 agent, 1 semantic view, 1 search service, 1 Streamlit app</a:t>
            </a:r>
          </a:p>
          <a:p>
            <a:r>
              <a:rPr sz="900">
                <a:solidFill>
                  <a:srgbClr val="7F8C8D"/>
                </a:solidFill>
              </a:rPr>
              <a:t>GitHub: github.com/Senthil-Kumar0812/predictive-maintenance-oee (private)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